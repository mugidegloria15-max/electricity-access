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Montserrat"/>
      <p:regular r:id="rId19"/>
      <p:bold r:id="rId20"/>
      <p:italic r:id="rId21"/>
      <p:boldItalic r:id="rId22"/>
    </p:embeddedFont>
    <p:embeddedFont>
      <p:font typeface="La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26F6A57-B96B-498E-9C25-4AE087B9D864}">
  <a:tblStyle styleId="{226F6A57-B96B-498E-9C25-4AE087B9D86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bold.fntdata"/><Relationship Id="rId22" Type="http://schemas.openxmlformats.org/officeDocument/2006/relationships/font" Target="fonts/Montserrat-boldItalic.fntdata"/><Relationship Id="rId21" Type="http://schemas.openxmlformats.org/officeDocument/2006/relationships/font" Target="fonts/Montserrat-italic.fntdata"/><Relationship Id="rId24" Type="http://schemas.openxmlformats.org/officeDocument/2006/relationships/font" Target="fonts/Lato-bold.fntdata"/><Relationship Id="rId23" Type="http://schemas.openxmlformats.org/officeDocument/2006/relationships/font" Target="fonts/La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Lato-boldItalic.fntdata"/><Relationship Id="rId25" Type="http://schemas.openxmlformats.org/officeDocument/2006/relationships/font" Target="fonts/La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Montserrat-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c73d3904d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c73d3904d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c73d3904d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c73d3904d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c73d3904d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c73d3904d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daee4f92d0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daee4f92d0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db0833172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db0833172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db0833172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db0833172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db08331720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db08331720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daee4f92d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daee4f92d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db0833172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db0833172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db3f4b6f5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db3f4b6f5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daee4f92d0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daee4f92d0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drive.google.com/file/d/1KeepW8Up_76VUbQPpGOK0Q_1BDxYkgiz/view" TargetMode="External"/><Relationship Id="rId4"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2979475" y="1100250"/>
            <a:ext cx="6084300" cy="205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689"/>
              <a:t>PREDICTION OF ELECTRICITY ACCESS IN AFRICA USING MACHINE LEARNING</a:t>
            </a:r>
            <a:endParaRPr b="1" sz="2689"/>
          </a:p>
        </p:txBody>
      </p:sp>
      <p:sp>
        <p:nvSpPr>
          <p:cNvPr id="135" name="Google Shape;135;p13"/>
          <p:cNvSpPr txBox="1"/>
          <p:nvPr>
            <p:ph idx="1" type="subTitle"/>
          </p:nvPr>
        </p:nvSpPr>
        <p:spPr>
          <a:xfrm>
            <a:off x="5083950" y="3529325"/>
            <a:ext cx="3470700" cy="901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t>Presented by Mugide Gloria</a:t>
            </a:r>
            <a:endParaRPr sz="2000"/>
          </a:p>
        </p:txBody>
      </p:sp>
      <p:pic>
        <p:nvPicPr>
          <p:cNvPr id="136" name="Google Shape;136;p13"/>
          <p:cNvPicPr preferRelativeResize="0"/>
          <p:nvPr/>
        </p:nvPicPr>
        <p:blipFill>
          <a:blip r:embed="rId3">
            <a:alphaModFix/>
          </a:blip>
          <a:stretch>
            <a:fillRect/>
          </a:stretch>
        </p:blipFill>
        <p:spPr>
          <a:xfrm>
            <a:off x="199450" y="2979413"/>
            <a:ext cx="2780025" cy="200161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4"/>
          <p:cNvSpPr txBox="1"/>
          <p:nvPr>
            <p:ph type="title"/>
          </p:nvPr>
        </p:nvSpPr>
        <p:spPr>
          <a:xfrm>
            <a:off x="1244075" y="749425"/>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3300">
                <a:latin typeface="Times New Roman"/>
                <a:ea typeface="Times New Roman"/>
                <a:cs typeface="Times New Roman"/>
                <a:sym typeface="Times New Roman"/>
              </a:rPr>
              <a:t>PROBLEM STATEMENT</a:t>
            </a:r>
            <a:endParaRPr b="1" sz="3300">
              <a:latin typeface="Times New Roman"/>
              <a:ea typeface="Times New Roman"/>
              <a:cs typeface="Times New Roman"/>
              <a:sym typeface="Times New Roman"/>
            </a:endParaRPr>
          </a:p>
        </p:txBody>
      </p:sp>
      <p:sp>
        <p:nvSpPr>
          <p:cNvPr id="142" name="Google Shape;142;p14"/>
          <p:cNvSpPr txBox="1"/>
          <p:nvPr>
            <p:ph idx="1" type="body"/>
          </p:nvPr>
        </p:nvSpPr>
        <p:spPr>
          <a:xfrm>
            <a:off x="683200" y="1581225"/>
            <a:ext cx="7038900" cy="2911200"/>
          </a:xfrm>
          <a:prstGeom prst="rect">
            <a:avLst/>
          </a:prstGeom>
        </p:spPr>
        <p:txBody>
          <a:bodyPr anchorCtr="0" anchor="t" bIns="91425" lIns="91425" spcFirstLastPara="1" rIns="91425" wrap="square" tIns="91425">
            <a:normAutofit fontScale="40000"/>
          </a:bodyPr>
          <a:lstStyle/>
          <a:p>
            <a:pPr indent="0" lvl="0" marL="0" rtl="0" algn="l">
              <a:spcBef>
                <a:spcPts val="1200"/>
              </a:spcBef>
              <a:spcAft>
                <a:spcPts val="0"/>
              </a:spcAft>
              <a:buNone/>
            </a:pPr>
            <a:r>
              <a:rPr lang="en" sz="3500">
                <a:latin typeface="Arial"/>
                <a:ea typeface="Arial"/>
                <a:cs typeface="Arial"/>
                <a:sym typeface="Arial"/>
              </a:rPr>
              <a:t>A report from the African Development Bank Group indicates that over 640 million Africans lack access to electricity. </a:t>
            </a:r>
            <a:r>
              <a:rPr lang="en" sz="3500">
                <a:latin typeface="Arial"/>
                <a:ea typeface="Arial"/>
                <a:cs typeface="Arial"/>
                <a:sym typeface="Arial"/>
              </a:rPr>
              <a:t>Moreover</a:t>
            </a:r>
            <a:r>
              <a:rPr lang="en" sz="3500">
                <a:latin typeface="Arial"/>
                <a:ea typeface="Arial"/>
                <a:cs typeface="Arial"/>
                <a:sym typeface="Arial"/>
              </a:rPr>
              <a:t> the IEA points out that electricity access is one of the pillars of economic growth, poverty eradication and social justice. However, power  is an immense issue of financial, technological, political, environmental and scientific concern hence there are complicated impediments that curtail its acceptance. </a:t>
            </a:r>
            <a:endParaRPr sz="3500">
              <a:latin typeface="Arial"/>
              <a:ea typeface="Arial"/>
              <a:cs typeface="Arial"/>
              <a:sym typeface="Arial"/>
            </a:endParaRPr>
          </a:p>
          <a:p>
            <a:pPr indent="0" lvl="0" marL="0" rtl="0" algn="l">
              <a:spcBef>
                <a:spcPts val="1200"/>
              </a:spcBef>
              <a:spcAft>
                <a:spcPts val="0"/>
              </a:spcAft>
              <a:buClr>
                <a:srgbClr val="000000"/>
              </a:buClr>
              <a:buSzPct val="51429"/>
              <a:buFont typeface="Arial"/>
              <a:buNone/>
            </a:pPr>
            <a:r>
              <a:rPr lang="en" sz="3500">
                <a:latin typeface="Arial"/>
                <a:ea typeface="Arial"/>
                <a:cs typeface="Arial"/>
                <a:sym typeface="Arial"/>
              </a:rPr>
              <a:t>This project aims to develop a machine learning model to analyze historical electricity access data and predict future access levels in African countries, helping to identify trends, disparities, and areas requiring urgent intervention. This will help the governments to have proper planning for infrastructural development.</a:t>
            </a:r>
            <a:endParaRPr sz="3500">
              <a:latin typeface="Arial"/>
              <a:ea typeface="Arial"/>
              <a:cs typeface="Arial"/>
              <a:sym typeface="Arial"/>
            </a:endParaRPr>
          </a:p>
          <a:p>
            <a:pPr indent="0" lvl="0" marL="0" rtl="0" algn="l">
              <a:spcBef>
                <a:spcPts val="1200"/>
              </a:spcBef>
              <a:spcAft>
                <a:spcPts val="1200"/>
              </a:spcAft>
              <a:buNone/>
            </a:pPr>
            <a:r>
              <a:t/>
            </a:r>
            <a:endParaRPr sz="16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5"/>
          <p:cNvSpPr txBox="1"/>
          <p:nvPr>
            <p:ph type="title"/>
          </p:nvPr>
        </p:nvSpPr>
        <p:spPr>
          <a:xfrm>
            <a:off x="1145025" y="227925"/>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3300">
                <a:latin typeface="Times New Roman"/>
                <a:ea typeface="Times New Roman"/>
                <a:cs typeface="Times New Roman"/>
                <a:sym typeface="Times New Roman"/>
              </a:rPr>
              <a:t>DATA DESCRIPTION</a:t>
            </a:r>
            <a:endParaRPr b="1" sz="3300">
              <a:latin typeface="Times New Roman"/>
              <a:ea typeface="Times New Roman"/>
              <a:cs typeface="Times New Roman"/>
              <a:sym typeface="Times New Roman"/>
            </a:endParaRPr>
          </a:p>
        </p:txBody>
      </p:sp>
      <p:sp>
        <p:nvSpPr>
          <p:cNvPr id="148" name="Google Shape;148;p15"/>
          <p:cNvSpPr txBox="1"/>
          <p:nvPr>
            <p:ph idx="1" type="body"/>
          </p:nvPr>
        </p:nvSpPr>
        <p:spPr>
          <a:xfrm>
            <a:off x="1052550" y="1142025"/>
            <a:ext cx="7901400" cy="400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E3E3E3"/>
                </a:solidFill>
                <a:highlight>
                  <a:srgbClr val="282A2C"/>
                </a:highlight>
                <a:latin typeface="Arial"/>
                <a:ea typeface="Arial"/>
                <a:cs typeface="Arial"/>
                <a:sym typeface="Arial"/>
              </a:rPr>
              <a:t>The data contains 22905 rows and 17 columns. These columns include:</a:t>
            </a:r>
            <a:endParaRPr sz="1100">
              <a:solidFill>
                <a:srgbClr val="E3E3E3"/>
              </a:solidFill>
              <a:highlight>
                <a:srgbClr val="282A2C"/>
              </a:highlight>
              <a:latin typeface="Arial"/>
              <a:ea typeface="Arial"/>
              <a:cs typeface="Arial"/>
              <a:sym typeface="Arial"/>
            </a:endParaRPr>
          </a:p>
          <a:p>
            <a:pPr indent="0" lvl="0" marL="0" rtl="0" algn="l">
              <a:spcBef>
                <a:spcPts val="600"/>
              </a:spcBef>
              <a:spcAft>
                <a:spcPts val="0"/>
              </a:spcAft>
              <a:buNone/>
            </a:pPr>
            <a:r>
              <a:rPr b="1" lang="en" sz="1100">
                <a:solidFill>
                  <a:srgbClr val="E3E3E3"/>
                </a:solidFill>
                <a:highlight>
                  <a:srgbClr val="282A2C"/>
                </a:highlight>
                <a:latin typeface="Arial"/>
                <a:ea typeface="Arial"/>
                <a:cs typeface="Arial"/>
                <a:sym typeface="Arial"/>
              </a:rPr>
              <a:t>SeriesCode, SeriesName, Indicator:</a:t>
            </a:r>
            <a:r>
              <a:rPr lang="en" sz="1100">
                <a:solidFill>
                  <a:srgbClr val="E3E3E3"/>
                </a:solidFill>
                <a:highlight>
                  <a:srgbClr val="282A2C"/>
                </a:highlight>
                <a:latin typeface="Arial"/>
                <a:ea typeface="Arial"/>
                <a:cs typeface="Arial"/>
                <a:sym typeface="Arial"/>
              </a:rPr>
              <a:t> Identifiers and descriptions related to the electricity access metric.</a:t>
            </a:r>
            <a:endParaRPr sz="1100">
              <a:solidFill>
                <a:srgbClr val="E3E3E3"/>
              </a:solidFill>
              <a:highlight>
                <a:srgbClr val="282A2C"/>
              </a:highlight>
              <a:latin typeface="Arial"/>
              <a:ea typeface="Arial"/>
              <a:cs typeface="Arial"/>
              <a:sym typeface="Arial"/>
            </a:endParaRPr>
          </a:p>
          <a:p>
            <a:pPr indent="0" lvl="0" marL="0" rtl="0" algn="l">
              <a:spcBef>
                <a:spcPts val="600"/>
              </a:spcBef>
              <a:spcAft>
                <a:spcPts val="0"/>
              </a:spcAft>
              <a:buNone/>
            </a:pPr>
            <a:r>
              <a:rPr b="1" lang="en" sz="1100">
                <a:solidFill>
                  <a:srgbClr val="E3E3E3"/>
                </a:solidFill>
                <a:highlight>
                  <a:srgbClr val="282A2C"/>
                </a:highlight>
                <a:latin typeface="Arial"/>
                <a:ea typeface="Arial"/>
                <a:cs typeface="Arial"/>
                <a:sym typeface="Arial"/>
              </a:rPr>
              <a:t>SeriesID, GeoAreaCode/Reference Area Code:</a:t>
            </a:r>
            <a:r>
              <a:rPr lang="en" sz="1100">
                <a:solidFill>
                  <a:srgbClr val="E3E3E3"/>
                </a:solidFill>
                <a:highlight>
                  <a:srgbClr val="282A2C"/>
                </a:highlight>
                <a:latin typeface="Arial"/>
                <a:ea typeface="Arial"/>
                <a:cs typeface="Arial"/>
                <a:sym typeface="Arial"/>
              </a:rPr>
              <a:t> Numerical identifiers for the series and geographical area.</a:t>
            </a:r>
            <a:endParaRPr sz="1100">
              <a:solidFill>
                <a:srgbClr val="E3E3E3"/>
              </a:solidFill>
              <a:highlight>
                <a:srgbClr val="282A2C"/>
              </a:highlight>
              <a:latin typeface="Arial"/>
              <a:ea typeface="Arial"/>
              <a:cs typeface="Arial"/>
              <a:sym typeface="Arial"/>
            </a:endParaRPr>
          </a:p>
          <a:p>
            <a:pPr indent="0" lvl="0" marL="0" rtl="0" algn="l">
              <a:spcBef>
                <a:spcPts val="600"/>
              </a:spcBef>
              <a:spcAft>
                <a:spcPts val="0"/>
              </a:spcAft>
              <a:buNone/>
            </a:pPr>
            <a:r>
              <a:rPr b="1" lang="en" sz="1100">
                <a:solidFill>
                  <a:srgbClr val="E3E3E3"/>
                </a:solidFill>
                <a:highlight>
                  <a:srgbClr val="282A2C"/>
                </a:highlight>
                <a:latin typeface="Arial"/>
                <a:ea typeface="Arial"/>
                <a:cs typeface="Arial"/>
                <a:sym typeface="Arial"/>
              </a:rPr>
              <a:t>Ref_Area_Type, GeoAreaName/Reference Area Name:</a:t>
            </a:r>
            <a:r>
              <a:rPr lang="en" sz="1100">
                <a:solidFill>
                  <a:srgbClr val="E3E3E3"/>
                </a:solidFill>
                <a:highlight>
                  <a:srgbClr val="282A2C"/>
                </a:highlight>
                <a:latin typeface="Arial"/>
                <a:ea typeface="Arial"/>
                <a:cs typeface="Arial"/>
                <a:sym typeface="Arial"/>
              </a:rPr>
              <a:t> Categorical information about the type of reference area (e.g., Regional, Country) and the name of the geographical area (e.g., country names, regional commissions).</a:t>
            </a:r>
            <a:endParaRPr sz="1100">
              <a:solidFill>
                <a:srgbClr val="E3E3E3"/>
              </a:solidFill>
              <a:highlight>
                <a:srgbClr val="282A2C"/>
              </a:highlight>
              <a:latin typeface="Arial"/>
              <a:ea typeface="Arial"/>
              <a:cs typeface="Arial"/>
              <a:sym typeface="Arial"/>
            </a:endParaRPr>
          </a:p>
          <a:p>
            <a:pPr indent="0" lvl="0" marL="0" rtl="0" algn="l">
              <a:spcBef>
                <a:spcPts val="600"/>
              </a:spcBef>
              <a:spcAft>
                <a:spcPts val="0"/>
              </a:spcAft>
              <a:buNone/>
            </a:pPr>
            <a:r>
              <a:rPr b="1" lang="en" sz="1100">
                <a:solidFill>
                  <a:srgbClr val="E3E3E3"/>
                </a:solidFill>
                <a:highlight>
                  <a:srgbClr val="282A2C"/>
                </a:highlight>
                <a:latin typeface="Arial"/>
                <a:ea typeface="Arial"/>
                <a:cs typeface="Arial"/>
                <a:sym typeface="Arial"/>
              </a:rPr>
              <a:t>TimePeriod:</a:t>
            </a:r>
            <a:r>
              <a:rPr lang="en" sz="1100">
                <a:solidFill>
                  <a:srgbClr val="E3E3E3"/>
                </a:solidFill>
                <a:highlight>
                  <a:srgbClr val="282A2C"/>
                </a:highlight>
                <a:latin typeface="Arial"/>
                <a:ea typeface="Arial"/>
                <a:cs typeface="Arial"/>
                <a:sym typeface="Arial"/>
              </a:rPr>
              <a:t> The year of the data collection.</a:t>
            </a:r>
            <a:endParaRPr sz="1100">
              <a:solidFill>
                <a:srgbClr val="E3E3E3"/>
              </a:solidFill>
              <a:highlight>
                <a:srgbClr val="282A2C"/>
              </a:highlight>
              <a:latin typeface="Arial"/>
              <a:ea typeface="Arial"/>
              <a:cs typeface="Arial"/>
              <a:sym typeface="Arial"/>
            </a:endParaRPr>
          </a:p>
          <a:p>
            <a:pPr indent="0" lvl="0" marL="0" rtl="0" algn="l">
              <a:spcBef>
                <a:spcPts val="600"/>
              </a:spcBef>
              <a:spcAft>
                <a:spcPts val="0"/>
              </a:spcAft>
              <a:buNone/>
            </a:pPr>
            <a:r>
              <a:rPr b="1" lang="en" sz="1100">
                <a:solidFill>
                  <a:srgbClr val="E3E3E3"/>
                </a:solidFill>
                <a:highlight>
                  <a:srgbClr val="282A2C"/>
                </a:highlight>
                <a:latin typeface="Arial"/>
                <a:ea typeface="Arial"/>
                <a:cs typeface="Arial"/>
                <a:sym typeface="Arial"/>
              </a:rPr>
              <a:t>Value:</a:t>
            </a:r>
            <a:r>
              <a:rPr lang="en" sz="1100">
                <a:solidFill>
                  <a:srgbClr val="E3E3E3"/>
                </a:solidFill>
                <a:highlight>
                  <a:srgbClr val="282A2C"/>
                </a:highlight>
                <a:latin typeface="Arial"/>
                <a:ea typeface="Arial"/>
                <a:cs typeface="Arial"/>
                <a:sym typeface="Arial"/>
              </a:rPr>
              <a:t> The proportion of population with access to electricity (this column was initially of object dtype acontained non-numeric values like '..', 'NA', which were later handled).</a:t>
            </a:r>
            <a:endParaRPr sz="1100">
              <a:solidFill>
                <a:srgbClr val="E3E3E3"/>
              </a:solidFill>
              <a:highlight>
                <a:srgbClr val="282A2C"/>
              </a:highlight>
              <a:latin typeface="Arial"/>
              <a:ea typeface="Arial"/>
              <a:cs typeface="Arial"/>
              <a:sym typeface="Arial"/>
            </a:endParaRPr>
          </a:p>
          <a:p>
            <a:pPr indent="0" lvl="0" marL="0" rtl="0" algn="l">
              <a:spcBef>
                <a:spcPts val="600"/>
              </a:spcBef>
              <a:spcAft>
                <a:spcPts val="0"/>
              </a:spcAft>
              <a:buNone/>
            </a:pPr>
            <a:r>
              <a:rPr b="1" lang="en" sz="1100">
                <a:solidFill>
                  <a:srgbClr val="E3E3E3"/>
                </a:solidFill>
                <a:highlight>
                  <a:srgbClr val="282A2C"/>
                </a:highlight>
                <a:latin typeface="Arial"/>
                <a:ea typeface="Arial"/>
                <a:cs typeface="Arial"/>
                <a:sym typeface="Arial"/>
              </a:rPr>
              <a:t>Units:</a:t>
            </a:r>
            <a:r>
              <a:rPr lang="en" sz="1100">
                <a:solidFill>
                  <a:srgbClr val="E3E3E3"/>
                </a:solidFill>
                <a:highlight>
                  <a:srgbClr val="282A2C"/>
                </a:highlight>
                <a:latin typeface="Arial"/>
                <a:ea typeface="Arial"/>
                <a:cs typeface="Arial"/>
                <a:sym typeface="Arial"/>
              </a:rPr>
              <a:t> The unit of measurement for Value, typically 'PERCENT'.</a:t>
            </a:r>
            <a:endParaRPr sz="1100">
              <a:solidFill>
                <a:srgbClr val="E3E3E3"/>
              </a:solidFill>
              <a:highlight>
                <a:srgbClr val="282A2C"/>
              </a:highlight>
              <a:latin typeface="Arial"/>
              <a:ea typeface="Arial"/>
              <a:cs typeface="Arial"/>
              <a:sym typeface="Arial"/>
            </a:endParaRPr>
          </a:p>
          <a:p>
            <a:pPr indent="0" lvl="0" marL="0" rtl="0" algn="l">
              <a:spcBef>
                <a:spcPts val="600"/>
              </a:spcBef>
              <a:spcAft>
                <a:spcPts val="0"/>
              </a:spcAft>
              <a:buNone/>
            </a:pPr>
            <a:r>
              <a:rPr b="1" lang="en" sz="1100">
                <a:solidFill>
                  <a:srgbClr val="E3E3E3"/>
                </a:solidFill>
                <a:highlight>
                  <a:srgbClr val="282A2C"/>
                </a:highlight>
                <a:latin typeface="Arial"/>
                <a:ea typeface="Arial"/>
                <a:cs typeface="Arial"/>
                <a:sym typeface="Arial"/>
              </a:rPr>
              <a:t>Nature, Location:</a:t>
            </a:r>
            <a:r>
              <a:rPr lang="en" sz="1100">
                <a:solidFill>
                  <a:srgbClr val="E3E3E3"/>
                </a:solidFill>
                <a:highlight>
                  <a:srgbClr val="282A2C"/>
                </a:highlight>
                <a:latin typeface="Arial"/>
                <a:ea typeface="Arial"/>
                <a:cs typeface="Arial"/>
                <a:sym typeface="Arial"/>
              </a:rPr>
              <a:t> Additional categorical features, with Location indicating 'ALLAREA', 'RURAL', or 'URBAN'.</a:t>
            </a:r>
            <a:endParaRPr sz="1100">
              <a:solidFill>
                <a:srgbClr val="E3E3E3"/>
              </a:solidFill>
              <a:highlight>
                <a:srgbClr val="282A2C"/>
              </a:highlight>
              <a:latin typeface="Arial"/>
              <a:ea typeface="Arial"/>
              <a:cs typeface="Arial"/>
              <a:sym typeface="Arial"/>
            </a:endParaRPr>
          </a:p>
          <a:p>
            <a:pPr indent="0" lvl="0" marL="0" rtl="0" algn="l">
              <a:spcBef>
                <a:spcPts val="600"/>
              </a:spcBef>
              <a:spcAft>
                <a:spcPts val="0"/>
              </a:spcAft>
              <a:buNone/>
            </a:pPr>
            <a:r>
              <a:rPr b="1" lang="en" sz="1100">
                <a:solidFill>
                  <a:srgbClr val="E3E3E3"/>
                </a:solidFill>
                <a:highlight>
                  <a:srgbClr val="282A2C"/>
                </a:highlight>
                <a:latin typeface="Arial"/>
                <a:ea typeface="Arial"/>
                <a:cs typeface="Arial"/>
                <a:sym typeface="Arial"/>
              </a:rPr>
              <a:t>Reporting Type, FootNote, Source, ISOalpha3, Type:</a:t>
            </a:r>
            <a:r>
              <a:rPr lang="en" sz="1100">
                <a:solidFill>
                  <a:srgbClr val="E3E3E3"/>
                </a:solidFill>
                <a:highlight>
                  <a:srgbClr val="282A2C"/>
                </a:highlight>
                <a:latin typeface="Arial"/>
                <a:ea typeface="Arial"/>
                <a:cs typeface="Arial"/>
                <a:sym typeface="Arial"/>
              </a:rPr>
              <a:t> Other descriptive and metadata columns.</a:t>
            </a:r>
            <a:endParaRPr sz="1100">
              <a:solidFill>
                <a:srgbClr val="E3E3E3"/>
              </a:solidFill>
              <a:highlight>
                <a:srgbClr val="282A2C"/>
              </a:highlight>
              <a:latin typeface="Arial"/>
              <a:ea typeface="Arial"/>
              <a:cs typeface="Arial"/>
              <a:sym typeface="Arial"/>
            </a:endParaRPr>
          </a:p>
          <a:p>
            <a:pPr indent="0" lvl="0" marL="0" rtl="0" algn="l">
              <a:spcBef>
                <a:spcPts val="600"/>
              </a:spcBef>
              <a:spcAft>
                <a:spcPts val="0"/>
              </a:spcAft>
              <a:buNone/>
            </a:pPr>
            <a:r>
              <a:rPr lang="en" sz="1100">
                <a:solidFill>
                  <a:srgbClr val="E3E3E3"/>
                </a:solidFill>
                <a:highlight>
                  <a:srgbClr val="282A2C"/>
                </a:highlight>
                <a:latin typeface="Arial"/>
                <a:ea typeface="Arial"/>
                <a:cs typeface="Arial"/>
                <a:sym typeface="Arial"/>
              </a:rPr>
              <a:t>while most columns were complete, Ref_Area_Type, Value, Nature, Reporting Type, FootNote, and ISOalpha3 had missing values. </a:t>
            </a:r>
            <a:endParaRPr sz="1100">
              <a:solidFill>
                <a:srgbClr val="E3E3E3"/>
              </a:solidFill>
              <a:highlight>
                <a:srgbClr val="282A2C"/>
              </a:highlight>
              <a:latin typeface="Arial"/>
              <a:ea typeface="Arial"/>
              <a:cs typeface="Arial"/>
              <a:sym typeface="Arial"/>
            </a:endParaRPr>
          </a:p>
          <a:p>
            <a:pPr indent="0" lvl="0" marL="0" rtl="0" algn="l">
              <a:spcBef>
                <a:spcPts val="0"/>
              </a:spcBef>
              <a:spcAft>
                <a:spcPts val="1200"/>
              </a:spcAft>
              <a:buNone/>
            </a:pPr>
            <a:r>
              <a:rPr lang="en" sz="1100">
                <a:latin typeface="Times New Roman"/>
                <a:ea typeface="Times New Roman"/>
                <a:cs typeface="Times New Roman"/>
                <a:sym typeface="Times New Roman"/>
              </a:rPr>
              <a:t>Data source; world bank</a:t>
            </a:r>
            <a:endParaRPr sz="11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6"/>
          <p:cNvSpPr txBox="1"/>
          <p:nvPr>
            <p:ph type="title"/>
          </p:nvPr>
        </p:nvSpPr>
        <p:spPr>
          <a:xfrm>
            <a:off x="1162725" y="2222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3300">
                <a:latin typeface="Century"/>
                <a:ea typeface="Century"/>
                <a:cs typeface="Century"/>
                <a:sym typeface="Century"/>
              </a:rPr>
              <a:t>DATA MANIPULATION</a:t>
            </a:r>
            <a:endParaRPr b="1" sz="3300">
              <a:latin typeface="Century"/>
              <a:ea typeface="Century"/>
              <a:cs typeface="Century"/>
              <a:sym typeface="Century"/>
            </a:endParaRPr>
          </a:p>
        </p:txBody>
      </p:sp>
      <p:sp>
        <p:nvSpPr>
          <p:cNvPr id="154" name="Google Shape;154;p16"/>
          <p:cNvSpPr txBox="1"/>
          <p:nvPr/>
        </p:nvSpPr>
        <p:spPr>
          <a:xfrm>
            <a:off x="1162725" y="1136350"/>
            <a:ext cx="7116900" cy="360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rgbClr val="E3E3E3"/>
                </a:solidFill>
                <a:highlight>
                  <a:srgbClr val="282A2C"/>
                </a:highlight>
                <a:latin typeface="Times New Roman"/>
                <a:ea typeface="Times New Roman"/>
                <a:cs typeface="Times New Roman"/>
                <a:sym typeface="Times New Roman"/>
              </a:rPr>
              <a:t>Removing columns with less than 80% of the data missing (22905, 14)</a:t>
            </a:r>
            <a:endParaRPr sz="1800">
              <a:solidFill>
                <a:srgbClr val="E3E3E3"/>
              </a:solidFill>
              <a:highlight>
                <a:srgbClr val="282A2C"/>
              </a:highlight>
              <a:latin typeface="Times New Roman"/>
              <a:ea typeface="Times New Roman"/>
              <a:cs typeface="Times New Roman"/>
              <a:sym typeface="Times New Roman"/>
            </a:endParaRPr>
          </a:p>
          <a:p>
            <a:pPr indent="0" lvl="0" marL="0" rtl="0" algn="l">
              <a:lnSpc>
                <a:spcPct val="115000"/>
              </a:lnSpc>
              <a:spcBef>
                <a:spcPts val="600"/>
              </a:spcBef>
              <a:spcAft>
                <a:spcPts val="0"/>
              </a:spcAft>
              <a:buNone/>
            </a:pPr>
            <a:r>
              <a:rPr lang="en" sz="1800">
                <a:solidFill>
                  <a:srgbClr val="E3E3E3"/>
                </a:solidFill>
                <a:highlight>
                  <a:srgbClr val="282A2C"/>
                </a:highlight>
                <a:latin typeface="Times New Roman"/>
                <a:ea typeface="Times New Roman"/>
                <a:cs typeface="Times New Roman"/>
                <a:sym typeface="Times New Roman"/>
              </a:rPr>
              <a:t>Dropping all the rows without data (22316, 14)</a:t>
            </a:r>
            <a:endParaRPr sz="1800">
              <a:solidFill>
                <a:srgbClr val="E3E3E3"/>
              </a:solidFill>
              <a:highlight>
                <a:srgbClr val="282A2C"/>
              </a:highlight>
              <a:latin typeface="Times New Roman"/>
              <a:ea typeface="Times New Roman"/>
              <a:cs typeface="Times New Roman"/>
              <a:sym typeface="Times New Roman"/>
            </a:endParaRPr>
          </a:p>
          <a:p>
            <a:pPr indent="0" lvl="0" marL="0" rtl="0" algn="l">
              <a:lnSpc>
                <a:spcPct val="115000"/>
              </a:lnSpc>
              <a:spcBef>
                <a:spcPts val="600"/>
              </a:spcBef>
              <a:spcAft>
                <a:spcPts val="0"/>
              </a:spcAft>
              <a:buNone/>
            </a:pPr>
            <a:r>
              <a:rPr lang="en" sz="1800">
                <a:solidFill>
                  <a:srgbClr val="E3E3E3"/>
                </a:solidFill>
                <a:highlight>
                  <a:srgbClr val="282A2C"/>
                </a:highlight>
                <a:latin typeface="Times New Roman"/>
                <a:ea typeface="Times New Roman"/>
                <a:cs typeface="Times New Roman"/>
                <a:sym typeface="Times New Roman"/>
              </a:rPr>
              <a:t>Performed data slicing to remain with only african countries </a:t>
            </a:r>
            <a:r>
              <a:rPr lang="en" sz="1800">
                <a:solidFill>
                  <a:srgbClr val="E3E3E3"/>
                </a:solidFill>
                <a:latin typeface="Times New Roman"/>
                <a:ea typeface="Times New Roman"/>
                <a:cs typeface="Times New Roman"/>
                <a:sym typeface="Times New Roman"/>
              </a:rPr>
              <a:t>(3635, 14)</a:t>
            </a:r>
            <a:endParaRPr sz="1800">
              <a:solidFill>
                <a:srgbClr val="E3E3E3"/>
              </a:solidFill>
              <a:highlight>
                <a:srgbClr val="282A2C"/>
              </a:highlight>
              <a:latin typeface="Times New Roman"/>
              <a:ea typeface="Times New Roman"/>
              <a:cs typeface="Times New Roman"/>
              <a:sym typeface="Times New Roman"/>
            </a:endParaRPr>
          </a:p>
          <a:p>
            <a:pPr indent="0" lvl="0" marL="0" rtl="0" algn="l">
              <a:lnSpc>
                <a:spcPct val="115000"/>
              </a:lnSpc>
              <a:spcBef>
                <a:spcPts val="600"/>
              </a:spcBef>
              <a:spcAft>
                <a:spcPts val="0"/>
              </a:spcAft>
              <a:buNone/>
            </a:pPr>
            <a:r>
              <a:rPr lang="en" sz="1800">
                <a:solidFill>
                  <a:srgbClr val="E3E3E3"/>
                </a:solidFill>
                <a:highlight>
                  <a:srgbClr val="282A2C"/>
                </a:highlight>
                <a:latin typeface="Times New Roman"/>
                <a:ea typeface="Times New Roman"/>
                <a:cs typeface="Times New Roman"/>
                <a:sym typeface="Times New Roman"/>
              </a:rPr>
              <a:t>Rectifying any issues with the data type of value to numeric</a:t>
            </a:r>
            <a:endParaRPr sz="1800">
              <a:solidFill>
                <a:srgbClr val="E3E3E3"/>
              </a:solidFill>
              <a:highlight>
                <a:srgbClr val="282A2C"/>
              </a:highlight>
              <a:latin typeface="Times New Roman"/>
              <a:ea typeface="Times New Roman"/>
              <a:cs typeface="Times New Roman"/>
              <a:sym typeface="Times New Roman"/>
            </a:endParaRPr>
          </a:p>
          <a:p>
            <a:pPr indent="0" lvl="0" marL="0" rtl="0" algn="l">
              <a:lnSpc>
                <a:spcPct val="115000"/>
              </a:lnSpc>
              <a:spcBef>
                <a:spcPts val="600"/>
              </a:spcBef>
              <a:spcAft>
                <a:spcPts val="0"/>
              </a:spcAft>
              <a:buNone/>
            </a:pPr>
            <a:r>
              <a:t/>
            </a:r>
            <a:endParaRPr>
              <a:solidFill>
                <a:srgbClr val="E3E3E3"/>
              </a:solidFill>
              <a:highlight>
                <a:srgbClr val="282A2C"/>
              </a:highlight>
              <a:latin typeface="Times New Roman"/>
              <a:ea typeface="Times New Roman"/>
              <a:cs typeface="Times New Roman"/>
              <a:sym typeface="Times New Roman"/>
            </a:endParaRPr>
          </a:p>
          <a:p>
            <a:pPr indent="0" lvl="0" marL="0" rtl="0" algn="l">
              <a:lnSpc>
                <a:spcPct val="115000"/>
              </a:lnSpc>
              <a:spcBef>
                <a:spcPts val="600"/>
              </a:spcBef>
              <a:spcAft>
                <a:spcPts val="0"/>
              </a:spcAft>
              <a:buNone/>
            </a:pPr>
            <a:r>
              <a:t/>
            </a:r>
            <a:endParaRPr>
              <a:solidFill>
                <a:srgbClr val="E3E3E3"/>
              </a:solidFill>
              <a:highlight>
                <a:srgbClr val="282A2C"/>
              </a:highlight>
              <a:latin typeface="Times New Roman"/>
              <a:ea typeface="Times New Roman"/>
              <a:cs typeface="Times New Roman"/>
              <a:sym typeface="Times New Roman"/>
            </a:endParaRPr>
          </a:p>
          <a:p>
            <a:pPr indent="0" lvl="0" marL="0" rtl="0" algn="l">
              <a:lnSpc>
                <a:spcPct val="115000"/>
              </a:lnSpc>
              <a:spcBef>
                <a:spcPts val="600"/>
              </a:spcBef>
              <a:spcAft>
                <a:spcPts val="0"/>
              </a:spcAft>
              <a:buNone/>
            </a:pPr>
            <a:r>
              <a:t/>
            </a:r>
            <a:endParaRPr>
              <a:solidFill>
                <a:srgbClr val="E3E3E3"/>
              </a:solidFill>
              <a:highlight>
                <a:srgbClr val="282A2C"/>
              </a:highlight>
              <a:latin typeface="Times New Roman"/>
              <a:ea typeface="Times New Roman"/>
              <a:cs typeface="Times New Roman"/>
              <a:sym typeface="Times New Roman"/>
            </a:endParaRPr>
          </a:p>
          <a:p>
            <a:pPr indent="0" lvl="0" marL="0" rtl="0" algn="l">
              <a:lnSpc>
                <a:spcPct val="115000"/>
              </a:lnSpc>
              <a:spcBef>
                <a:spcPts val="600"/>
              </a:spcBef>
              <a:spcAft>
                <a:spcPts val="0"/>
              </a:spcAft>
              <a:buNone/>
            </a:pPr>
            <a:r>
              <a:t/>
            </a:r>
            <a:endParaRPr>
              <a:solidFill>
                <a:srgbClr val="E3E3E3"/>
              </a:solidFill>
              <a:highlight>
                <a:srgbClr val="282A2C"/>
              </a:highlight>
              <a:latin typeface="Times New Roman"/>
              <a:ea typeface="Times New Roman"/>
              <a:cs typeface="Times New Roman"/>
              <a:sym typeface="Times New Roman"/>
            </a:endParaRPr>
          </a:p>
          <a:p>
            <a:pPr indent="0" lvl="0" marL="0" rtl="0" algn="l">
              <a:lnSpc>
                <a:spcPct val="115000"/>
              </a:lnSpc>
              <a:spcBef>
                <a:spcPts val="600"/>
              </a:spcBef>
              <a:spcAft>
                <a:spcPts val="0"/>
              </a:spcAft>
              <a:buNone/>
            </a:pPr>
            <a:r>
              <a:t/>
            </a:r>
            <a:endParaRPr>
              <a:solidFill>
                <a:srgbClr val="E3E3E3"/>
              </a:solidFill>
              <a:highlight>
                <a:srgbClr val="282A2C"/>
              </a:highlight>
              <a:latin typeface="Times New Roman"/>
              <a:ea typeface="Times New Roman"/>
              <a:cs typeface="Times New Roman"/>
              <a:sym typeface="Times New Roman"/>
            </a:endParaRPr>
          </a:p>
          <a:p>
            <a:pPr indent="0" lvl="0" marL="0" rtl="0" algn="l">
              <a:lnSpc>
                <a:spcPct val="115000"/>
              </a:lnSpc>
              <a:spcBef>
                <a:spcPts val="600"/>
              </a:spcBef>
              <a:spcAft>
                <a:spcPts val="600"/>
              </a:spcAft>
              <a:buNone/>
            </a:pPr>
            <a:r>
              <a:t/>
            </a:r>
            <a:endParaRPr>
              <a:solidFill>
                <a:srgbClr val="E3E3E3"/>
              </a:solidFill>
              <a:highlight>
                <a:srgbClr val="282A2C"/>
              </a:highlight>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EXPLORATORY DATA ANALYSIS</a:t>
            </a:r>
            <a:endParaRPr/>
          </a:p>
        </p:txBody>
      </p:sp>
      <p:sp>
        <p:nvSpPr>
          <p:cNvPr id="160" name="Google Shape;160;p17"/>
          <p:cNvSpPr txBox="1"/>
          <p:nvPr>
            <p:ph idx="1" type="body"/>
          </p:nvPr>
        </p:nvSpPr>
        <p:spPr>
          <a:xfrm>
            <a:off x="651250" y="1160625"/>
            <a:ext cx="8067300" cy="3863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1200"/>
              </a:spcAft>
              <a:buNone/>
            </a:pPr>
            <a:r>
              <a:rPr lang="en"/>
              <a:t>BOX PLOT</a:t>
            </a:r>
            <a:endParaRPr/>
          </a:p>
        </p:txBody>
      </p:sp>
      <p:pic>
        <p:nvPicPr>
          <p:cNvPr id="161" name="Google Shape;161;p17"/>
          <p:cNvPicPr preferRelativeResize="0"/>
          <p:nvPr/>
        </p:nvPicPr>
        <p:blipFill>
          <a:blip r:embed="rId3">
            <a:alphaModFix/>
          </a:blip>
          <a:stretch>
            <a:fillRect/>
          </a:stretch>
        </p:blipFill>
        <p:spPr>
          <a:xfrm>
            <a:off x="1586825" y="1160625"/>
            <a:ext cx="5390800" cy="37835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CONTINUED EDA……</a:t>
            </a:r>
            <a:endParaRPr/>
          </a:p>
        </p:txBody>
      </p:sp>
      <p:sp>
        <p:nvSpPr>
          <p:cNvPr id="167" name="Google Shape;167;p18"/>
          <p:cNvSpPr txBox="1"/>
          <p:nvPr>
            <p:ph idx="1" type="body"/>
          </p:nvPr>
        </p:nvSpPr>
        <p:spPr>
          <a:xfrm>
            <a:off x="188175" y="1567550"/>
            <a:ext cx="81483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LINE PLOT</a:t>
            </a:r>
            <a:endParaRPr/>
          </a:p>
        </p:txBody>
      </p:sp>
      <p:pic>
        <p:nvPicPr>
          <p:cNvPr id="168" name="Google Shape;168;p18"/>
          <p:cNvPicPr preferRelativeResize="0"/>
          <p:nvPr/>
        </p:nvPicPr>
        <p:blipFill>
          <a:blip r:embed="rId3">
            <a:alphaModFix/>
          </a:blip>
          <a:stretch>
            <a:fillRect/>
          </a:stretch>
        </p:blipFill>
        <p:spPr>
          <a:xfrm>
            <a:off x="1451275" y="1032425"/>
            <a:ext cx="6962775" cy="3981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9"/>
          <p:cNvSpPr txBox="1"/>
          <p:nvPr>
            <p:ph type="title"/>
          </p:nvPr>
        </p:nvSpPr>
        <p:spPr>
          <a:xfrm>
            <a:off x="1297500" y="393750"/>
            <a:ext cx="7038900" cy="516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EDA CONTINUED….</a:t>
            </a:r>
            <a:endParaRPr/>
          </a:p>
        </p:txBody>
      </p:sp>
      <p:sp>
        <p:nvSpPr>
          <p:cNvPr id="174" name="Google Shape;174;p19"/>
          <p:cNvSpPr txBox="1"/>
          <p:nvPr>
            <p:ph idx="1" type="body"/>
          </p:nvPr>
        </p:nvSpPr>
        <p:spPr>
          <a:xfrm>
            <a:off x="298550" y="1567550"/>
            <a:ext cx="8037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LINE PLOT</a:t>
            </a:r>
            <a:endParaRPr/>
          </a:p>
        </p:txBody>
      </p:sp>
      <p:pic>
        <p:nvPicPr>
          <p:cNvPr id="175" name="Google Shape;175;p19"/>
          <p:cNvPicPr preferRelativeResize="0"/>
          <p:nvPr/>
        </p:nvPicPr>
        <p:blipFill>
          <a:blip r:embed="rId3">
            <a:alphaModFix/>
          </a:blip>
          <a:stretch>
            <a:fillRect/>
          </a:stretch>
        </p:blipFill>
        <p:spPr>
          <a:xfrm>
            <a:off x="1557325" y="1193475"/>
            <a:ext cx="6029325" cy="35242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EDA CONTINUED….</a:t>
            </a:r>
            <a:endParaRPr/>
          </a:p>
        </p:txBody>
      </p:sp>
      <p:sp>
        <p:nvSpPr>
          <p:cNvPr id="181" name="Google Shape;181;p20"/>
          <p:cNvSpPr txBox="1"/>
          <p:nvPr>
            <p:ph idx="1" type="body"/>
          </p:nvPr>
        </p:nvSpPr>
        <p:spPr>
          <a:xfrm>
            <a:off x="440700" y="1567550"/>
            <a:ext cx="85014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LINE PLOT </a:t>
            </a:r>
            <a:endParaRPr/>
          </a:p>
        </p:txBody>
      </p:sp>
      <p:pic>
        <p:nvPicPr>
          <p:cNvPr id="182" name="Google Shape;182;p20"/>
          <p:cNvPicPr preferRelativeResize="0"/>
          <p:nvPr/>
        </p:nvPicPr>
        <p:blipFill>
          <a:blip r:embed="rId3">
            <a:alphaModFix/>
          </a:blip>
          <a:stretch>
            <a:fillRect/>
          </a:stretch>
        </p:blipFill>
        <p:spPr>
          <a:xfrm>
            <a:off x="1533525" y="1307850"/>
            <a:ext cx="6076950" cy="3657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MODELS</a:t>
            </a:r>
            <a:endParaRPr/>
          </a:p>
        </p:txBody>
      </p:sp>
      <p:sp>
        <p:nvSpPr>
          <p:cNvPr id="188" name="Google Shape;188;p21"/>
          <p:cNvSpPr txBox="1"/>
          <p:nvPr>
            <p:ph idx="1" type="body"/>
          </p:nvPr>
        </p:nvSpPr>
        <p:spPr>
          <a:xfrm>
            <a:off x="737025" y="1567550"/>
            <a:ext cx="8248500" cy="3419100"/>
          </a:xfrm>
          <a:prstGeom prst="rect">
            <a:avLst/>
          </a:prstGeom>
        </p:spPr>
        <p:txBody>
          <a:bodyPr anchorCtr="0" anchor="t" bIns="91425" lIns="91425" spcFirstLastPara="1" rIns="91425" wrap="square" tIns="91425">
            <a:normAutofit fontScale="25000" lnSpcReduction="20000"/>
          </a:bodyPr>
          <a:lstStyle/>
          <a:p>
            <a:pPr indent="-304006" lvl="0" marL="457200" rtl="0" algn="l">
              <a:spcBef>
                <a:spcPts val="0"/>
              </a:spcBef>
              <a:spcAft>
                <a:spcPts val="0"/>
              </a:spcAft>
              <a:buSzPct val="100000"/>
              <a:buFont typeface="Arial"/>
              <a:buAutoNum type="arabicPeriod"/>
            </a:pPr>
            <a:r>
              <a:rPr lang="en" sz="4750">
                <a:latin typeface="Arial"/>
                <a:ea typeface="Arial"/>
                <a:cs typeface="Arial"/>
                <a:sym typeface="Arial"/>
              </a:rPr>
              <a:t>Linear Regression;</a:t>
            </a:r>
            <a:endParaRPr sz="4750">
              <a:latin typeface="Arial"/>
              <a:ea typeface="Arial"/>
              <a:cs typeface="Arial"/>
              <a:sym typeface="Arial"/>
            </a:endParaRPr>
          </a:p>
          <a:p>
            <a:pPr indent="0" lvl="0" marL="0" rtl="0" algn="l">
              <a:spcBef>
                <a:spcPts val="1200"/>
              </a:spcBef>
              <a:spcAft>
                <a:spcPts val="0"/>
              </a:spcAft>
              <a:buNone/>
            </a:pPr>
            <a:r>
              <a:rPr lang="en" sz="4750">
                <a:latin typeface="Arial"/>
                <a:ea typeface="Arial"/>
                <a:cs typeface="Arial"/>
                <a:sym typeface="Arial"/>
              </a:rPr>
              <a:t>Linear Regression is the baseline for most predictive modeling. It assumes a linear relationship between the input variables (x) and the target variable (y).</a:t>
            </a:r>
            <a:endParaRPr sz="4750">
              <a:latin typeface="Arial"/>
              <a:ea typeface="Arial"/>
              <a:cs typeface="Arial"/>
              <a:sym typeface="Arial"/>
            </a:endParaRPr>
          </a:p>
          <a:p>
            <a:pPr indent="0" lvl="0" marL="0" rtl="0" algn="l">
              <a:spcBef>
                <a:spcPts val="1200"/>
              </a:spcBef>
              <a:spcAft>
                <a:spcPts val="0"/>
              </a:spcAft>
              <a:buNone/>
            </a:pPr>
            <a:r>
              <a:rPr b="1" lang="en" sz="4750">
                <a:latin typeface="Arial"/>
                <a:ea typeface="Arial"/>
                <a:cs typeface="Arial"/>
                <a:sym typeface="Arial"/>
              </a:rPr>
              <a:t>How it works:</a:t>
            </a:r>
            <a:r>
              <a:rPr lang="en" sz="4750">
                <a:latin typeface="Arial"/>
                <a:ea typeface="Arial"/>
                <a:cs typeface="Arial"/>
                <a:sym typeface="Arial"/>
              </a:rPr>
              <a:t> It finds the "Line of Best Fit" by calculating weights (coefficients) for each input. The goal is to minimize the </a:t>
            </a:r>
            <a:r>
              <a:rPr b="1" lang="en" sz="4750">
                <a:latin typeface="Arial"/>
                <a:ea typeface="Arial"/>
                <a:cs typeface="Arial"/>
                <a:sym typeface="Arial"/>
              </a:rPr>
              <a:t>Sum of Squared Residuals</a:t>
            </a:r>
            <a:r>
              <a:rPr lang="en" sz="4750">
                <a:latin typeface="Arial"/>
                <a:ea typeface="Arial"/>
                <a:cs typeface="Arial"/>
                <a:sym typeface="Arial"/>
              </a:rPr>
              <a:t> (the distance between the actual data points and the line).</a:t>
            </a:r>
            <a:endParaRPr sz="4750">
              <a:latin typeface="Arial"/>
              <a:ea typeface="Arial"/>
              <a:cs typeface="Arial"/>
              <a:sym typeface="Arial"/>
            </a:endParaRPr>
          </a:p>
          <a:p>
            <a:pPr indent="-304006" lvl="0" marL="457200" rtl="0" algn="l">
              <a:spcBef>
                <a:spcPts val="1200"/>
              </a:spcBef>
              <a:spcAft>
                <a:spcPts val="0"/>
              </a:spcAft>
              <a:buSzPct val="100000"/>
              <a:buFont typeface="Arial"/>
              <a:buAutoNum type="arabicPeriod"/>
            </a:pPr>
            <a:r>
              <a:rPr lang="en" sz="4750">
                <a:latin typeface="Arial"/>
                <a:ea typeface="Arial"/>
                <a:cs typeface="Arial"/>
                <a:sym typeface="Arial"/>
              </a:rPr>
              <a:t>Random Forest </a:t>
            </a:r>
            <a:endParaRPr sz="4750">
              <a:latin typeface="Arial"/>
              <a:ea typeface="Arial"/>
              <a:cs typeface="Arial"/>
              <a:sym typeface="Arial"/>
            </a:endParaRPr>
          </a:p>
          <a:p>
            <a:pPr indent="0" lvl="0" marL="0" rtl="0" algn="l">
              <a:spcBef>
                <a:spcPts val="1200"/>
              </a:spcBef>
              <a:spcAft>
                <a:spcPts val="0"/>
              </a:spcAft>
              <a:buNone/>
            </a:pPr>
            <a:r>
              <a:rPr lang="en" sz="4750">
                <a:latin typeface="Arial"/>
                <a:ea typeface="Arial"/>
                <a:cs typeface="Arial"/>
                <a:sym typeface="Arial"/>
              </a:rPr>
              <a:t>Random Forest is an "ensemble" method, meaning it combines the predictions of many individual models to get a more accurate result.</a:t>
            </a:r>
            <a:endParaRPr sz="4750">
              <a:latin typeface="Arial"/>
              <a:ea typeface="Arial"/>
              <a:cs typeface="Arial"/>
              <a:sym typeface="Arial"/>
            </a:endParaRPr>
          </a:p>
          <a:p>
            <a:pPr indent="0" lvl="0" marL="0" rtl="0" algn="l">
              <a:spcBef>
                <a:spcPts val="1200"/>
              </a:spcBef>
              <a:spcAft>
                <a:spcPts val="0"/>
              </a:spcAft>
              <a:buNone/>
            </a:pPr>
            <a:r>
              <a:rPr b="1" lang="en" sz="4750">
                <a:latin typeface="Arial"/>
                <a:ea typeface="Arial"/>
                <a:cs typeface="Arial"/>
                <a:sym typeface="Arial"/>
              </a:rPr>
              <a:t>  How it works:</a:t>
            </a:r>
            <a:r>
              <a:rPr lang="en" sz="4750">
                <a:latin typeface="Arial"/>
                <a:ea typeface="Arial"/>
                <a:cs typeface="Arial"/>
                <a:sym typeface="Arial"/>
              </a:rPr>
              <a:t> It builds dozens or hundreds of </a:t>
            </a:r>
            <a:r>
              <a:rPr b="1" lang="en" sz="4750">
                <a:latin typeface="Arial"/>
                <a:ea typeface="Arial"/>
                <a:cs typeface="Arial"/>
                <a:sym typeface="Arial"/>
              </a:rPr>
              <a:t>Decision Trees</a:t>
            </a:r>
            <a:r>
              <a:rPr lang="en" sz="4750">
                <a:latin typeface="Arial"/>
                <a:ea typeface="Arial"/>
                <a:cs typeface="Arial"/>
                <a:sym typeface="Arial"/>
              </a:rPr>
              <a:t> on different subsets of the data. For a regression task, each tree produces a numerical prediction, and the model takes the </a:t>
            </a:r>
            <a:r>
              <a:rPr b="1" lang="en" sz="4750">
                <a:latin typeface="Arial"/>
                <a:ea typeface="Arial"/>
                <a:cs typeface="Arial"/>
                <a:sym typeface="Arial"/>
              </a:rPr>
              <a:t>average</a:t>
            </a:r>
            <a:r>
              <a:rPr lang="en" sz="4750">
                <a:latin typeface="Arial"/>
                <a:ea typeface="Arial"/>
                <a:cs typeface="Arial"/>
                <a:sym typeface="Arial"/>
              </a:rPr>
              <a:t> of all those predictions.</a:t>
            </a:r>
            <a:endParaRPr sz="4750">
              <a:latin typeface="Arial"/>
              <a:ea typeface="Arial"/>
              <a:cs typeface="Arial"/>
              <a:sym typeface="Arial"/>
            </a:endParaRPr>
          </a:p>
          <a:p>
            <a:pPr indent="0" lvl="0" marL="0" rtl="0" algn="l">
              <a:spcBef>
                <a:spcPts val="1200"/>
              </a:spcBef>
              <a:spcAft>
                <a:spcPts val="0"/>
              </a:spcAft>
              <a:buNone/>
            </a:pPr>
            <a:r>
              <a:rPr b="1" lang="en" sz="4750">
                <a:latin typeface="Arial"/>
                <a:ea typeface="Arial"/>
                <a:cs typeface="Arial"/>
                <a:sym typeface="Arial"/>
              </a:rPr>
              <a:t>  Strengths:</a:t>
            </a:r>
            <a:r>
              <a:rPr lang="en" sz="4750">
                <a:latin typeface="Arial"/>
                <a:ea typeface="Arial"/>
                <a:cs typeface="Arial"/>
                <a:sym typeface="Arial"/>
              </a:rPr>
              <a:t> It is excellent at capturing non-linear relationships and handles outliers much better than linear models. It also reduces the risk of "overfitting" (memorizing the data) because it relies on the consensus of many trees.</a:t>
            </a:r>
            <a:endParaRPr sz="4750">
              <a:latin typeface="Arial"/>
              <a:ea typeface="Arial"/>
              <a:cs typeface="Arial"/>
              <a:sym typeface="Arial"/>
            </a:endParaRPr>
          </a:p>
          <a:p>
            <a:pPr indent="-304006" lvl="0" marL="457200" rtl="0" algn="l">
              <a:spcBef>
                <a:spcPts val="1200"/>
              </a:spcBef>
              <a:spcAft>
                <a:spcPts val="0"/>
              </a:spcAft>
              <a:buClr>
                <a:srgbClr val="000000"/>
              </a:buClr>
              <a:buSzPct val="100000"/>
              <a:buFont typeface="Arial"/>
              <a:buChar char="●"/>
            </a:pPr>
            <a:r>
              <a:t/>
            </a:r>
            <a:endParaRPr sz="4750">
              <a:latin typeface="Arial"/>
              <a:ea typeface="Arial"/>
              <a:cs typeface="Arial"/>
              <a:sym typeface="Arial"/>
            </a:endParaRPr>
          </a:p>
          <a:p>
            <a:pPr indent="0" lvl="0" marL="457200" rtl="0" algn="l">
              <a:spcBef>
                <a:spcPts val="1200"/>
              </a:spcBef>
              <a:spcAft>
                <a:spcPts val="0"/>
              </a:spcAft>
              <a:buNone/>
            </a:pPr>
            <a:r>
              <a:t/>
            </a:r>
            <a:endParaRPr sz="1232">
              <a:latin typeface="Arial"/>
              <a:ea typeface="Arial"/>
              <a:cs typeface="Arial"/>
              <a:sym typeface="Arial"/>
            </a:endParaRPr>
          </a:p>
          <a:p>
            <a:pPr indent="0" lvl="0" marL="0" rtl="0" algn="l">
              <a:spcBef>
                <a:spcPts val="1200"/>
              </a:spcBef>
              <a:spcAft>
                <a:spcPts val="0"/>
              </a:spcAft>
              <a:buNone/>
            </a:pPr>
            <a:r>
              <a:t/>
            </a:r>
            <a:endParaRPr sz="1232">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MODELS CONTINUED……</a:t>
            </a:r>
            <a:endParaRPr/>
          </a:p>
        </p:txBody>
      </p:sp>
      <p:sp>
        <p:nvSpPr>
          <p:cNvPr id="194" name="Google Shape;194;p22"/>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32500" lnSpcReduction="20000"/>
          </a:bodyPr>
          <a:lstStyle/>
          <a:p>
            <a:pPr indent="-293608" lvl="0" marL="457200" rtl="0" algn="l">
              <a:spcBef>
                <a:spcPts val="1200"/>
              </a:spcBef>
              <a:spcAft>
                <a:spcPts val="0"/>
              </a:spcAft>
              <a:buClr>
                <a:srgbClr val="000000"/>
              </a:buClr>
              <a:buSzPct val="100000"/>
              <a:buFont typeface="Arial"/>
              <a:buChar char="●"/>
            </a:pPr>
            <a:r>
              <a:t/>
            </a:r>
            <a:endParaRPr sz="3150">
              <a:latin typeface="Arial"/>
              <a:ea typeface="Arial"/>
              <a:cs typeface="Arial"/>
              <a:sym typeface="Arial"/>
            </a:endParaRPr>
          </a:p>
          <a:p>
            <a:pPr indent="0" lvl="0" marL="0" rtl="0" algn="l">
              <a:spcBef>
                <a:spcPts val="1200"/>
              </a:spcBef>
              <a:spcAft>
                <a:spcPts val="0"/>
              </a:spcAft>
              <a:buNone/>
            </a:pPr>
            <a:r>
              <a:rPr lang="en" sz="4265">
                <a:latin typeface="Arial"/>
                <a:ea typeface="Arial"/>
                <a:cs typeface="Arial"/>
                <a:sym typeface="Arial"/>
              </a:rPr>
              <a:t>3.     Neural Network</a:t>
            </a:r>
            <a:endParaRPr sz="4265">
              <a:latin typeface="Arial"/>
              <a:ea typeface="Arial"/>
              <a:cs typeface="Arial"/>
              <a:sym typeface="Arial"/>
            </a:endParaRPr>
          </a:p>
          <a:p>
            <a:pPr indent="0" lvl="0" marL="0" rtl="0" algn="l">
              <a:spcBef>
                <a:spcPts val="1200"/>
              </a:spcBef>
              <a:spcAft>
                <a:spcPts val="0"/>
              </a:spcAft>
              <a:buNone/>
            </a:pPr>
            <a:r>
              <a:rPr lang="en" sz="4265">
                <a:latin typeface="Arial"/>
                <a:ea typeface="Arial"/>
                <a:cs typeface="Arial"/>
                <a:sym typeface="Arial"/>
              </a:rPr>
              <a:t>Neural Networks are inspired by the human brain and are part of the "Deep Learning" family.</a:t>
            </a:r>
            <a:endParaRPr sz="4265">
              <a:latin typeface="Arial"/>
              <a:ea typeface="Arial"/>
              <a:cs typeface="Arial"/>
              <a:sym typeface="Arial"/>
            </a:endParaRPr>
          </a:p>
          <a:p>
            <a:pPr indent="0" lvl="0" marL="0" rtl="0" algn="l">
              <a:spcBef>
                <a:spcPts val="1200"/>
              </a:spcBef>
              <a:spcAft>
                <a:spcPts val="0"/>
              </a:spcAft>
              <a:buNone/>
            </a:pPr>
            <a:r>
              <a:rPr b="1" lang="en" sz="4265">
                <a:latin typeface="Arial"/>
                <a:ea typeface="Arial"/>
                <a:cs typeface="Arial"/>
                <a:sym typeface="Arial"/>
              </a:rPr>
              <a:t>  How it works:</a:t>
            </a:r>
            <a:r>
              <a:rPr lang="en" sz="4265">
                <a:latin typeface="Arial"/>
                <a:ea typeface="Arial"/>
                <a:cs typeface="Arial"/>
                <a:sym typeface="Arial"/>
              </a:rPr>
              <a:t> They consist of layers of "neurons." Each neuron takes an input, applies a weight and a nonlinear function (like ReLU), and passes it to the next layer.</a:t>
            </a:r>
            <a:endParaRPr sz="4265">
              <a:latin typeface="Arial"/>
              <a:ea typeface="Arial"/>
              <a:cs typeface="Arial"/>
              <a:sym typeface="Arial"/>
            </a:endParaRPr>
          </a:p>
          <a:p>
            <a:pPr indent="0" lvl="0" marL="0" rtl="0" algn="l">
              <a:spcBef>
                <a:spcPts val="1200"/>
              </a:spcBef>
              <a:spcAft>
                <a:spcPts val="0"/>
              </a:spcAft>
              <a:buNone/>
            </a:pPr>
            <a:r>
              <a:rPr b="1" lang="en" sz="4265">
                <a:latin typeface="Arial"/>
                <a:ea typeface="Arial"/>
                <a:cs typeface="Arial"/>
                <a:sym typeface="Arial"/>
              </a:rPr>
              <a:t>  The Learning Process:</a:t>
            </a:r>
            <a:r>
              <a:rPr lang="en" sz="4265">
                <a:latin typeface="Arial"/>
                <a:ea typeface="Arial"/>
                <a:cs typeface="Arial"/>
                <a:sym typeface="Arial"/>
              </a:rPr>
              <a:t> Through a process called </a:t>
            </a:r>
            <a:r>
              <a:rPr b="1" lang="en" sz="4265">
                <a:latin typeface="Arial"/>
                <a:ea typeface="Arial"/>
                <a:cs typeface="Arial"/>
                <a:sym typeface="Arial"/>
              </a:rPr>
              <a:t>Backpropagation</a:t>
            </a:r>
            <a:r>
              <a:rPr lang="en" sz="4265">
                <a:latin typeface="Arial"/>
                <a:ea typeface="Arial"/>
                <a:cs typeface="Arial"/>
                <a:sym typeface="Arial"/>
              </a:rPr>
              <a:t>, the network adjusts its internal weights to minimize the error between its prediction and the actual value.</a:t>
            </a:r>
            <a:endParaRPr sz="4265">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 EVALUATION</a:t>
            </a:r>
            <a:endParaRPr/>
          </a:p>
        </p:txBody>
      </p:sp>
      <p:graphicFrame>
        <p:nvGraphicFramePr>
          <p:cNvPr id="200" name="Google Shape;200;p23"/>
          <p:cNvGraphicFramePr/>
          <p:nvPr/>
        </p:nvGraphicFramePr>
        <p:xfrm>
          <a:off x="952500" y="1619250"/>
          <a:ext cx="3000000" cy="3000000"/>
        </p:xfrm>
        <a:graphic>
          <a:graphicData uri="http://schemas.openxmlformats.org/drawingml/2006/table">
            <a:tbl>
              <a:tblPr>
                <a:noFill/>
                <a:tableStyleId>{226F6A57-B96B-498E-9C25-4AE087B9D864}</a:tableStyleId>
              </a:tblPr>
              <a:tblGrid>
                <a:gridCol w="2288525"/>
                <a:gridCol w="1837125"/>
                <a:gridCol w="1659275"/>
                <a:gridCol w="2124375"/>
              </a:tblGrid>
              <a:tr h="381000">
                <a:tc>
                  <a:txBody>
                    <a:bodyPr/>
                    <a:lstStyle/>
                    <a:p>
                      <a:pPr indent="0" lvl="0" marL="0" rtl="0" algn="l">
                        <a:spcBef>
                          <a:spcPts val="0"/>
                        </a:spcBef>
                        <a:spcAft>
                          <a:spcPts val="0"/>
                        </a:spcAft>
                        <a:buNone/>
                      </a:pPr>
                      <a:r>
                        <a:rPr lang="en">
                          <a:solidFill>
                            <a:schemeClr val="lt1"/>
                          </a:solidFill>
                        </a:rPr>
                        <a:t>metric</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Random forest</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Neural Network</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Linear Regression</a:t>
                      </a:r>
                      <a:endParaRPr>
                        <a:solidFill>
                          <a:schemeClr val="lt1"/>
                        </a:solidFill>
                      </a:endParaRPr>
                    </a:p>
                  </a:txBody>
                  <a:tcPr marT="91425" marB="91425" marR="91425" marL="91425"/>
                </a:tc>
              </a:tr>
              <a:tr h="381000">
                <a:tc>
                  <a:txBody>
                    <a:bodyPr/>
                    <a:lstStyle/>
                    <a:p>
                      <a:pPr indent="0" lvl="0" marL="0" rtl="0" algn="l">
                        <a:spcBef>
                          <a:spcPts val="0"/>
                        </a:spcBef>
                        <a:spcAft>
                          <a:spcPts val="0"/>
                        </a:spcAft>
                        <a:buNone/>
                      </a:pPr>
                      <a:r>
                        <a:rPr lang="en">
                          <a:solidFill>
                            <a:schemeClr val="lt1"/>
                          </a:solidFill>
                        </a:rPr>
                        <a:t>Mean absolute error</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2,41</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11.28</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9.13</a:t>
                      </a:r>
                      <a:endParaRPr>
                        <a:solidFill>
                          <a:schemeClr val="lt1"/>
                        </a:solidFill>
                      </a:endParaRPr>
                    </a:p>
                  </a:txBody>
                  <a:tcPr marT="91425" marB="91425" marR="91425" marL="91425"/>
                </a:tc>
              </a:tr>
              <a:tr h="381000">
                <a:tc>
                  <a:txBody>
                    <a:bodyPr/>
                    <a:lstStyle/>
                    <a:p>
                      <a:pPr indent="0" lvl="0" marL="0" rtl="0" algn="l">
                        <a:spcBef>
                          <a:spcPts val="0"/>
                        </a:spcBef>
                        <a:spcAft>
                          <a:spcPts val="0"/>
                        </a:spcAft>
                        <a:buNone/>
                      </a:pPr>
                      <a:r>
                        <a:rPr lang="en">
                          <a:solidFill>
                            <a:schemeClr val="lt1"/>
                          </a:solidFill>
                        </a:rPr>
                        <a:t>Mean squared error</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14.18</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212,45</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140.89</a:t>
                      </a:r>
                      <a:endParaRPr>
                        <a:solidFill>
                          <a:schemeClr val="lt1"/>
                        </a:solidFill>
                      </a:endParaRPr>
                    </a:p>
                  </a:txBody>
                  <a:tcPr marT="91425" marB="91425" marR="91425" marL="91425"/>
                </a:tc>
              </a:tr>
              <a:tr h="381000">
                <a:tc>
                  <a:txBody>
                    <a:bodyPr/>
                    <a:lstStyle/>
                    <a:p>
                      <a:pPr indent="0" lvl="0" marL="0" rtl="0" algn="l">
                        <a:spcBef>
                          <a:spcPts val="0"/>
                        </a:spcBef>
                        <a:spcAft>
                          <a:spcPts val="0"/>
                        </a:spcAft>
                        <a:buNone/>
                      </a:pPr>
                      <a:r>
                        <a:rPr lang="en">
                          <a:solidFill>
                            <a:schemeClr val="lt1"/>
                          </a:solidFill>
                        </a:rPr>
                        <a:t>Root </a:t>
                      </a:r>
                      <a:r>
                        <a:rPr lang="en">
                          <a:solidFill>
                            <a:schemeClr val="lt1"/>
                          </a:solidFill>
                        </a:rPr>
                        <a:t>Mean squared error</a:t>
                      </a:r>
                      <a:endParaRPr>
                        <a:solidFill>
                          <a:schemeClr val="lt1"/>
                        </a:solidFill>
                      </a:endParaRPr>
                    </a:p>
                    <a:p>
                      <a:pPr indent="0" lvl="0" marL="0" rtl="0" algn="l">
                        <a:spcBef>
                          <a:spcPts val="0"/>
                        </a:spcBef>
                        <a:spcAft>
                          <a:spcPts val="0"/>
                        </a:spcAft>
                        <a:buNone/>
                      </a:pPr>
                      <a:r>
                        <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3.77</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14.58</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11.87</a:t>
                      </a:r>
                      <a:endParaRPr>
                        <a:solidFill>
                          <a:schemeClr val="lt1"/>
                        </a:solidFill>
                      </a:endParaRPr>
                    </a:p>
                  </a:txBody>
                  <a:tcPr marT="91425" marB="91425" marR="91425" marL="91425"/>
                </a:tc>
              </a:tr>
              <a:tr h="381000">
                <a:tc>
                  <a:txBody>
                    <a:bodyPr/>
                    <a:lstStyle/>
                    <a:p>
                      <a:pPr indent="0" lvl="0" marL="0" rtl="0" algn="l">
                        <a:spcBef>
                          <a:spcPts val="0"/>
                        </a:spcBef>
                        <a:spcAft>
                          <a:spcPts val="0"/>
                        </a:spcAft>
                        <a:buNone/>
                      </a:pPr>
                      <a:r>
                        <a:rPr lang="en">
                          <a:solidFill>
                            <a:schemeClr val="lt1"/>
                          </a:solidFill>
                        </a:rPr>
                        <a:t>R-squared</a:t>
                      </a:r>
                      <a:endParaRPr>
                        <a:solidFill>
                          <a:schemeClr val="lt1"/>
                        </a:solidFill>
                      </a:endParaRPr>
                    </a:p>
                  </a:txBody>
                  <a:tcPr marT="91425" marB="91425" marR="91425" marL="91425"/>
                </a:tc>
                <a:tc>
                  <a:txBody>
                    <a:bodyPr/>
                    <a:lstStyle/>
                    <a:p>
                      <a:pPr indent="0" lvl="0" marL="0" rtl="0" algn="l">
                        <a:spcBef>
                          <a:spcPts val="0"/>
                        </a:spcBef>
                        <a:spcAft>
                          <a:spcPts val="0"/>
                        </a:spcAft>
                        <a:buNone/>
                      </a:pPr>
                      <a:r>
                        <a:rPr b="1" lang="en">
                          <a:solidFill>
                            <a:schemeClr val="lt1"/>
                          </a:solidFill>
                        </a:rPr>
                        <a:t>0.99</a:t>
                      </a:r>
                      <a:endParaRPr b="1">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0.86</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0.79</a:t>
                      </a:r>
                      <a:endParaRPr>
                        <a:solidFill>
                          <a:schemeClr val="lt1"/>
                        </a:solidFill>
                      </a:endParaRPr>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DEMO VIDEO</a:t>
            </a:r>
            <a:endParaRPr/>
          </a:p>
        </p:txBody>
      </p:sp>
      <p:sp>
        <p:nvSpPr>
          <p:cNvPr id="206" name="Google Shape;206;p2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video;</a:t>
            </a:r>
            <a:endParaRPr/>
          </a:p>
        </p:txBody>
      </p:sp>
      <p:pic>
        <p:nvPicPr>
          <p:cNvPr id="207" name="Google Shape;207;p24" title="video1268623446.mp4">
            <a:hlinkClick r:id="rId3"/>
          </p:cNvPr>
          <p:cNvPicPr preferRelativeResize="0"/>
          <p:nvPr/>
        </p:nvPicPr>
        <p:blipFill>
          <a:blip r:embed="rId4">
            <a:alphaModFix/>
          </a:blip>
          <a:stretch>
            <a:fillRect/>
          </a:stretch>
        </p:blipFill>
        <p:spPr>
          <a:xfrm>
            <a:off x="0" y="1255"/>
            <a:ext cx="9144001" cy="514099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1000"/>
                                        <p:tgtEl>
                                          <p:spTgt spid="2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